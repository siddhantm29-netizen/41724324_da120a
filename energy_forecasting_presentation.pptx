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6366F1"/>
                </a:solidFill>
              </a:rPr>
              <a:t>MASTER OF DATA ANALYTICS  ·  DA120A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822960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>
                <a:solidFill>
                  <a:srgbClr val="FFFFFF"/>
                </a:solidFill>
              </a:rPr>
              <a:t>Energy Consumption
Forecasting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6060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94A3B3"/>
                </a:solidFill>
              </a:rPr>
              <a:t>Using Machine Learning and Deep Learning on PJM East Hourly Load Data, 2002–2018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246120"/>
            <a:ext cx="5486400" cy="16459"/>
          </a:xfrm>
          <a:prstGeom prst="rect">
            <a:avLst/>
          </a:prstGeom>
          <a:solidFill>
            <a:srgbClr val="2D3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340156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Siddhant Santosh Mathapati  ·  Student ID 41724324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3931920"/>
            <a:ext cx="2743200" cy="804672"/>
          </a:xfrm>
          <a:prstGeom prst="rect">
            <a:avLst/>
          </a:prstGeom>
          <a:solidFill>
            <a:srgbClr val="1E2947"/>
          </a:solidFill>
          <a:ln w="6350">
            <a:solidFill>
              <a:srgbClr val="2D3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4023360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6366F1"/>
                </a:solidFill>
              </a:rPr>
              <a:t>145K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352544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94A3B3"/>
                </a:solidFill>
              </a:rPr>
              <a:t>Hourly records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56432" y="3931920"/>
            <a:ext cx="2743200" cy="804672"/>
          </a:xfrm>
          <a:prstGeom prst="rect">
            <a:avLst/>
          </a:prstGeom>
          <a:solidFill>
            <a:srgbClr val="1E2947"/>
          </a:solidFill>
          <a:ln w="6350">
            <a:solidFill>
              <a:srgbClr val="2D3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56432" y="4023360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6366F1"/>
                </a:solidFill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56432" y="4352544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94A3B3"/>
                </a:solidFill>
              </a:rPr>
              <a:t>Models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64224" y="3931920"/>
            <a:ext cx="2743200" cy="804672"/>
          </a:xfrm>
          <a:prstGeom prst="rect">
            <a:avLst/>
          </a:prstGeom>
          <a:solidFill>
            <a:srgbClr val="1E2947"/>
          </a:solidFill>
          <a:ln w="6350">
            <a:solidFill>
              <a:srgbClr val="2D3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64224" y="4023360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6366F1"/>
                </a:solidFill>
              </a:rPr>
              <a:t>47%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64224" y="4352544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94A3B3"/>
                </a:solidFill>
              </a:rPr>
              <a:t>RMSE reduction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272016" y="3931920"/>
            <a:ext cx="2743200" cy="804672"/>
          </a:xfrm>
          <a:prstGeom prst="rect">
            <a:avLst/>
          </a:prstGeom>
          <a:solidFill>
            <a:srgbClr val="1E2947"/>
          </a:solidFill>
          <a:ln w="6350">
            <a:solidFill>
              <a:srgbClr val="2D3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72016" y="4023360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6366F1"/>
                </a:solidFill>
              </a:rPr>
              <a:t>5.98%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72016" y="4352544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94A3B3"/>
                </a:solidFill>
              </a:rPr>
              <a:t>Best MAPE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46520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94A3B3"/>
                </a:solidFill>
              </a:rPr>
              <a:t>github.com/siddhantm29-netizen/41724324_DA120A  ·  dashboard-da.streamlit.app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20040"/>
            <a:ext cx="2926080" cy="256032"/>
          </a:xfrm>
          <a:prstGeom prst="rect">
            <a:avLst/>
          </a:prstGeom>
          <a:solidFill>
            <a:srgbClr val="141B35"/>
          </a:solidFill>
          <a:ln w="9525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47472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6366F1"/>
                </a:solidFill>
              </a:rPr>
              <a:t>RESEARCH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04672"/>
            <a:ext cx="1109167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Can ML significantly outperform classical baselines
for hourly electricity load forecasting?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64208"/>
            <a:ext cx="110916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3"/>
                </a:solidFill>
              </a:rPr>
              <a:t>And which engineered features drive prediction accuracy the most?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029968"/>
            <a:ext cx="5440680" cy="1417320"/>
          </a:xfrm>
          <a:prstGeom prst="rect">
            <a:avLst/>
          </a:prstGeom>
          <a:solidFill>
            <a:srgbClr val="1E2947"/>
          </a:solidFill>
          <a:ln w="6350">
            <a:solidFill>
              <a:srgbClr val="2D3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2121408"/>
            <a:ext cx="5212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6366F1"/>
                </a:solidFill>
              </a:rPr>
              <a:t>⚡  WHY THIS MATTERS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2359152"/>
            <a:ext cx="5212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3"/>
                </a:solidFill>
              </a:rPr>
              <a:t>• Forecasting reduces grid imbalance costs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615184"/>
            <a:ext cx="5212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3"/>
                </a:solidFill>
              </a:rPr>
              <a:t>• Enables better renewable energy integration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2871216"/>
            <a:ext cx="5212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3"/>
                </a:solidFill>
              </a:rPr>
              <a:t>• Critical for power plant scheduling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3127248"/>
            <a:ext cx="5212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3"/>
                </a:solidFill>
              </a:rPr>
              <a:t>• Supports carbon emission reduction targets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5079" y="2029968"/>
            <a:ext cx="5440680" cy="1417320"/>
          </a:xfrm>
          <a:prstGeom prst="rect">
            <a:avLst/>
          </a:prstGeom>
          <a:solidFill>
            <a:srgbClr val="1E2947"/>
          </a:solidFill>
          <a:ln w="6350">
            <a:solidFill>
              <a:srgbClr val="2D3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64807" y="2121408"/>
            <a:ext cx="5212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6366F1"/>
                </a:solidFill>
              </a:rPr>
              <a:t>🎯  OBJECTIVES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64807" y="2359152"/>
            <a:ext cx="5212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3"/>
                </a:solidFill>
              </a:rPr>
              <a:t>• Baseline classical models (SARIMA, Naive)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64807" y="2615184"/>
            <a:ext cx="5212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3"/>
                </a:solidFill>
              </a:rPr>
              <a:t>• Train gradient boosting on engineered features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64807" y="2871216"/>
            <a:ext cx="5212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3"/>
                </a:solidFill>
              </a:rPr>
              <a:t>• Evaluate probabilistic forecasting (Prophet)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64807" y="3127248"/>
            <a:ext cx="5212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3"/>
                </a:solidFill>
              </a:rPr>
              <a:t>• Explain best model predictions with SHAP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3584448"/>
            <a:ext cx="11064240" cy="658368"/>
          </a:xfrm>
          <a:prstGeom prst="rect">
            <a:avLst/>
          </a:prstGeom>
          <a:solidFill>
            <a:srgbClr val="1E2947"/>
          </a:solidFill>
          <a:ln w="6350">
            <a:solidFill>
              <a:srgbClr val="2D3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" y="3675887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6366F1"/>
                </a:solidFill>
              </a:rPr>
              <a:t>🗓  SCOPE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3895344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3"/>
                </a:solidFill>
              </a:rPr>
              <a:t>PJM East region (13 US states + Washington DC)  ·  Hourly granularity  ·  16-year span (Jan 2002 – Aug 2018)  ·  Final 12 months held out as unseen test set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20040"/>
            <a:ext cx="2926080" cy="256032"/>
          </a:xfrm>
          <a:prstGeom prst="rect">
            <a:avLst/>
          </a:prstGeom>
          <a:solidFill>
            <a:srgbClr val="141B35"/>
          </a:solidFill>
          <a:ln w="9525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47472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6366F1"/>
                </a:solidFill>
              </a:rPr>
              <a:t>DATASET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04672"/>
            <a:ext cx="1109167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PJM East Hourly Load, 2002–2018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572768"/>
            <a:ext cx="3566160" cy="749808"/>
          </a:xfrm>
          <a:prstGeom prst="rect">
            <a:avLst/>
          </a:prstGeom>
          <a:solidFill>
            <a:srgbClr val="1E2947"/>
          </a:solidFill>
          <a:ln w="6350">
            <a:solidFill>
              <a:srgbClr val="2D3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645920"/>
            <a:ext cx="334670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94A3B3"/>
                </a:solidFill>
              </a:rPr>
              <a:t>SOURCE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847088"/>
            <a:ext cx="334670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Kaggle · robikscube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2103120"/>
            <a:ext cx="334670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3"/>
                </a:solidFill>
              </a:rPr>
              <a:t>CC0 Public Domain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43400" y="1572768"/>
            <a:ext cx="3566160" cy="749808"/>
          </a:xfrm>
          <a:prstGeom prst="rect">
            <a:avLst/>
          </a:prstGeom>
          <a:solidFill>
            <a:srgbClr val="1E2947"/>
          </a:solidFill>
          <a:ln w="6350">
            <a:solidFill>
              <a:srgbClr val="2D3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53128" y="1645920"/>
            <a:ext cx="334670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94A3B3"/>
                </a:solidFill>
              </a:rPr>
              <a:t>PROVIDER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53128" y="1847088"/>
            <a:ext cx="334670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PJM Interconnection LLC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53128" y="2103120"/>
            <a:ext cx="334670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3"/>
                </a:solidFill>
              </a:rPr>
              <a:t>Regional transmission org.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38160" y="1572768"/>
            <a:ext cx="3566160" cy="749808"/>
          </a:xfrm>
          <a:prstGeom prst="rect">
            <a:avLst/>
          </a:prstGeom>
          <a:solidFill>
            <a:srgbClr val="1E2947"/>
          </a:solidFill>
          <a:ln w="6350">
            <a:solidFill>
              <a:srgbClr val="2D3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47888" y="1645920"/>
            <a:ext cx="334670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94A3B3"/>
                </a:solidFill>
              </a:rPr>
              <a:t>COVERAGE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47888" y="1847088"/>
            <a:ext cx="334670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Jan 2002 – Aug 2018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47888" y="2103120"/>
            <a:ext cx="334670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3"/>
                </a:solidFill>
              </a:rPr>
              <a:t>16 years · hourly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2468880"/>
            <a:ext cx="8092440" cy="2212848"/>
          </a:xfrm>
          <a:prstGeom prst="rect">
            <a:avLst/>
          </a:prstGeom>
          <a:solidFill>
            <a:srgbClr val="1E2947"/>
          </a:solidFill>
          <a:ln w="6350">
            <a:solidFill>
              <a:srgbClr val="2D3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2560320"/>
            <a:ext cx="7863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6366F1"/>
                </a:solidFill>
              </a:rPr>
              <a:t>PREPROCESSING PIPELINE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2816352"/>
            <a:ext cx="7863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3"/>
                </a:solidFill>
              </a:rPr>
              <a:t>①  Parse &amp; set Datetime as index → sort chronologically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3163824"/>
            <a:ext cx="7863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3"/>
                </a:solidFill>
              </a:rPr>
              <a:t>②  Reindex to complete hourly grid → detect missing hours (0 found)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" y="3511296"/>
            <a:ext cx="7863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3"/>
                </a:solidFill>
              </a:rPr>
              <a:t>③  Remove duplicates → interpolate any NaN gaps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3858768"/>
            <a:ext cx="7863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3"/>
                </a:solidFill>
              </a:rPr>
              <a:t>④  Rolling z-score anomaly detection (7-day window, |z| &gt; 4)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4206240"/>
            <a:ext cx="7863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3"/>
                </a:solidFill>
              </a:rPr>
              <a:t>⑤  STL decomposition on daily-resampled series (trend/seasonal/residual)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869680" y="2468880"/>
            <a:ext cx="2743200" cy="676656"/>
          </a:xfrm>
          <a:prstGeom prst="rect">
            <a:avLst/>
          </a:prstGeom>
          <a:solidFill>
            <a:srgbClr val="1E2947"/>
          </a:solidFill>
          <a:ln w="6350">
            <a:solidFill>
              <a:srgbClr val="2D3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869680" y="2560320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6366F1"/>
                </a:solidFill>
              </a:rPr>
              <a:t>145,224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69680" y="2889504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94A3B3"/>
                </a:solidFill>
              </a:rPr>
              <a:t>clean hourly records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869680" y="3218688"/>
            <a:ext cx="2743200" cy="676656"/>
          </a:xfrm>
          <a:prstGeom prst="rect">
            <a:avLst/>
          </a:prstGeom>
          <a:solidFill>
            <a:srgbClr val="1E2947"/>
          </a:solidFill>
          <a:ln w="6350">
            <a:solidFill>
              <a:srgbClr val="2D3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869680" y="3310128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6366F1"/>
                </a:solidFill>
              </a:rPr>
              <a:t>~32K MW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69680" y="3639312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94A3B3"/>
                </a:solidFill>
              </a:rPr>
              <a:t>average load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869680" y="3968496"/>
            <a:ext cx="2743200" cy="676656"/>
          </a:xfrm>
          <a:prstGeom prst="rect">
            <a:avLst/>
          </a:prstGeom>
          <a:solidFill>
            <a:srgbClr val="1E2947"/>
          </a:solidFill>
          <a:ln w="6350">
            <a:solidFill>
              <a:srgbClr val="2D3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869680" y="4059936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6366F1"/>
                </a:solidFill>
              </a:rPr>
              <a:t>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869680" y="4389120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94A3B3"/>
                </a:solidFill>
              </a:rPr>
              <a:t>missing hours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640" y="4828032"/>
            <a:ext cx="11064240" cy="502920"/>
          </a:xfrm>
          <a:prstGeom prst="rect">
            <a:avLst/>
          </a:prstGeom>
          <a:solidFill>
            <a:srgbClr val="1E2947"/>
          </a:solidFill>
          <a:ln w="6350">
            <a:solidFill>
              <a:srgbClr val="2D3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8368" y="4901184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3"/>
                </a:solidFill>
              </a:rPr>
              <a:t>After cleaning &amp; feature engineering: 145,224 hourly records · 0 missing hours after reindexing · ~800 anomalous hours flagged by rolling z-score (|z| &gt; 4).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20040"/>
            <a:ext cx="2926080" cy="256032"/>
          </a:xfrm>
          <a:prstGeom prst="rect">
            <a:avLst/>
          </a:prstGeom>
          <a:solidFill>
            <a:srgbClr val="141B35"/>
          </a:solidFill>
          <a:ln w="9525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47472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6366F1"/>
                </a:solidFill>
              </a:rPr>
              <a:t>METHODOLOGY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04672"/>
            <a:ext cx="1109167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End-to-End Pipeline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554480"/>
            <a:ext cx="347472" cy="34747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55448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" y="1508760"/>
            <a:ext cx="10515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Data Preprocessing &amp; EDA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" y="180136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3"/>
                </a:solidFill>
              </a:rPr>
              <a:t>Timestamp parsing, gap filling, anomaly detection, seasonality analysis (daily/weekly/monthly/yearly), STL decomposition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676656" y="1901952"/>
            <a:ext cx="91440" cy="475488"/>
          </a:xfrm>
          <a:prstGeom prst="rect">
            <a:avLst/>
          </a:prstGeom>
          <a:solidFill>
            <a:srgbClr val="2D3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2468880"/>
            <a:ext cx="347472" cy="34747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46888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4128" y="2423160"/>
            <a:ext cx="10515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Feature Engineering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4128" y="271576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3"/>
                </a:solidFill>
              </a:rPr>
              <a:t>Calendar features + cyclical sin/cos encodings, US holiday flag, lag features (24h, 168h), 7-day rolling mean &amp; std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76656" y="2816352"/>
            <a:ext cx="91440" cy="475488"/>
          </a:xfrm>
          <a:prstGeom prst="rect">
            <a:avLst/>
          </a:prstGeom>
          <a:solidFill>
            <a:srgbClr val="2D3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3383280"/>
            <a:ext cx="347472" cy="34747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338328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" y="3337560"/>
            <a:ext cx="10515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Modelling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4128" y="363016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3"/>
                </a:solidFill>
              </a:rPr>
              <a:t>Naive Seasonal (168h) · SARIMA (daily) · XGBoost · LightGBM · Facebook Prophet with US holiday regressors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76656" y="3730752"/>
            <a:ext cx="91440" cy="475488"/>
          </a:xfrm>
          <a:prstGeom prst="rect">
            <a:avLst/>
          </a:prstGeom>
          <a:solidFill>
            <a:srgbClr val="2D3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8640" y="4297680"/>
            <a:ext cx="347472" cy="34747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429768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4128" y="4251960"/>
            <a:ext cx="10515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Evaluation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4128" y="454456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3"/>
                </a:solidFill>
              </a:rPr>
              <a:t>MAE, RMSE, MAPE on held-out final 12 months · 5-fold expanding walk-forward cross-validation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76656" y="4645152"/>
            <a:ext cx="91440" cy="475488"/>
          </a:xfrm>
          <a:prstGeom prst="rect">
            <a:avLst/>
          </a:prstGeom>
          <a:solidFill>
            <a:srgbClr val="2D3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48640" y="5212080"/>
            <a:ext cx="347472" cy="34747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521208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4128" y="5166360"/>
            <a:ext cx="10515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Explainability &amp; Dashboard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24128" y="545896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3"/>
                </a:solidFill>
              </a:rPr>
              <a:t>SHAP TreeExplainer on best model · Interactive Streamlit dashboard on Streamlit Community Cloud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20040"/>
            <a:ext cx="2926080" cy="256032"/>
          </a:xfrm>
          <a:prstGeom prst="rect">
            <a:avLst/>
          </a:prstGeom>
          <a:solidFill>
            <a:srgbClr val="141B35"/>
          </a:solidFill>
          <a:ln w="9525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47472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6366F1"/>
                </a:solidFill>
              </a:rPr>
              <a:t>EDA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04672"/>
            <a:ext cx="1109167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Seasonality Patterns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572768"/>
            <a:ext cx="3657600" cy="4681728"/>
          </a:xfrm>
          <a:prstGeom prst="rect">
            <a:avLst/>
          </a:prstGeom>
          <a:solidFill>
            <a:srgbClr val="1E2947"/>
          </a:solidFill>
          <a:ln w="6350">
            <a:solidFill>
              <a:srgbClr val="2D3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2648" y="1664208"/>
            <a:ext cx="343814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6366F1"/>
                </a:solidFill>
              </a:rPr>
              <a:t>BY HOUR OF DAY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602495"/>
            <a:ext cx="102870" cy="1701024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9526" y="3749135"/>
            <a:ext cx="102870" cy="1554384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18972" y="3837119"/>
            <a:ext cx="102870" cy="14664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58418" y="3925103"/>
            <a:ext cx="102870" cy="137841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97864" y="3983759"/>
            <a:ext cx="102870" cy="131976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337310" y="3954431"/>
            <a:ext cx="102870" cy="1349088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476756" y="3778463"/>
            <a:ext cx="102870" cy="152505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616202" y="3191902"/>
            <a:ext cx="102870" cy="2111617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755648" y="2663998"/>
            <a:ext cx="102870" cy="2639521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895094" y="2488030"/>
            <a:ext cx="102870" cy="2815489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034540" y="2488030"/>
            <a:ext cx="102870" cy="2815489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173986" y="2576014"/>
            <a:ext cx="102870" cy="2727505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313432" y="2663998"/>
            <a:ext cx="102870" cy="2639521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452878" y="2722654"/>
            <a:ext cx="102870" cy="2580865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592324" y="2810638"/>
            <a:ext cx="102870" cy="2492881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731770" y="2839966"/>
            <a:ext cx="102870" cy="2463553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871216" y="2751982"/>
            <a:ext cx="102870" cy="2551537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010662" y="2576014"/>
            <a:ext cx="102870" cy="2727505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150108" y="2370718"/>
            <a:ext cx="102870" cy="2932801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289554" y="2282734"/>
            <a:ext cx="102870" cy="3020785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429000" y="2370718"/>
            <a:ext cx="102870" cy="2932801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568446" y="2488030"/>
            <a:ext cx="102870" cy="2815489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707892" y="2751982"/>
            <a:ext cx="102870" cy="2551537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847338" y="3162574"/>
            <a:ext cx="102870" cy="2140945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12648" y="5413248"/>
            <a:ext cx="343814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94A3B3"/>
                </a:solidFill>
              </a:rPr>
              <a:t>0h → 23h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2648" y="5669280"/>
            <a:ext cx="343814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3"/>
                </a:solidFill>
              </a:rPr>
              <a:t>Peak 4–8PM. Valley 3–5AM.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361688" y="1572768"/>
            <a:ext cx="3657600" cy="4681728"/>
          </a:xfrm>
          <a:prstGeom prst="rect">
            <a:avLst/>
          </a:prstGeom>
          <a:solidFill>
            <a:srgbClr val="1E2947"/>
          </a:solidFill>
          <a:ln w="6350">
            <a:solidFill>
              <a:srgbClr val="2D3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471416" y="1664208"/>
            <a:ext cx="343814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59E0B"/>
                </a:solidFill>
              </a:rPr>
              <a:t>BY MONTH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498848" y="2645228"/>
            <a:ext cx="242316" cy="2658291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777740" y="2886891"/>
            <a:ext cx="242316" cy="241662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056632" y="3068138"/>
            <a:ext cx="242316" cy="2235381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335524" y="3128554"/>
            <a:ext cx="242316" cy="2174965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614416" y="3068138"/>
            <a:ext cx="242316" cy="2235381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893308" y="2886891"/>
            <a:ext cx="242316" cy="241662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172200" y="2282734"/>
            <a:ext cx="242316" cy="3020785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451092" y="2433773"/>
            <a:ext cx="242316" cy="286974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729984" y="2826475"/>
            <a:ext cx="242316" cy="247704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008876" y="3068138"/>
            <a:ext cx="242316" cy="2235381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287768" y="3068138"/>
            <a:ext cx="242316" cy="2235381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7566660" y="2705644"/>
            <a:ext cx="242316" cy="2597875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471416" y="5413248"/>
            <a:ext cx="343814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94A3B3"/>
                </a:solidFill>
              </a:rPr>
              <a:t>Jan → Dec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471416" y="5669280"/>
            <a:ext cx="343814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3"/>
                </a:solidFill>
              </a:rPr>
              <a:t>Bimodal: July (AC) &amp; Jan (heating).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220456" y="1572768"/>
            <a:ext cx="3657600" cy="4681728"/>
          </a:xfrm>
          <a:prstGeom prst="rect">
            <a:avLst/>
          </a:prstGeom>
          <a:solidFill>
            <a:srgbClr val="1E2947"/>
          </a:solidFill>
          <a:ln w="6350">
            <a:solidFill>
              <a:srgbClr val="2D3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330184" y="1664208"/>
            <a:ext cx="343814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2C55E"/>
                </a:solidFill>
              </a:rPr>
              <a:t>BY DAY OF WEEK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357616" y="2282734"/>
            <a:ext cx="441524" cy="3020785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8835716" y="2282734"/>
            <a:ext cx="441524" cy="3020785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9313817" y="2282734"/>
            <a:ext cx="441524" cy="3020785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9791917" y="2282734"/>
            <a:ext cx="441524" cy="3020785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10270018" y="2414072"/>
            <a:ext cx="441524" cy="2889447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10748118" y="2873757"/>
            <a:ext cx="441524" cy="242976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11226219" y="3005096"/>
            <a:ext cx="441524" cy="2298423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330184" y="5413248"/>
            <a:ext cx="343814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94A3B3"/>
                </a:solidFill>
              </a:rPr>
              <a:t>Mon → Sun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330184" y="5669280"/>
            <a:ext cx="343814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3"/>
                </a:solidFill>
              </a:rPr>
              <a:t>~14% weekday vs weekend gap.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20040"/>
            <a:ext cx="2926080" cy="256032"/>
          </a:xfrm>
          <a:prstGeom prst="rect">
            <a:avLst/>
          </a:prstGeom>
          <a:solidFill>
            <a:srgbClr val="141B35"/>
          </a:solidFill>
          <a:ln w="9525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47472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6366F1"/>
                </a:solidFill>
              </a:rPr>
              <a:t>FEATURE ENGINEERING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04672"/>
            <a:ext cx="1109167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21 Features → Tabular ML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572768"/>
            <a:ext cx="3566160" cy="2395728"/>
          </a:xfrm>
          <a:prstGeom prst="rect">
            <a:avLst/>
          </a:prstGeom>
          <a:solidFill>
            <a:srgbClr val="1E2947"/>
          </a:solidFill>
          <a:ln w="6350">
            <a:solidFill>
              <a:srgbClr val="2D3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664208"/>
            <a:ext cx="334670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6366F1"/>
                </a:solidFill>
              </a:rPr>
              <a:t>🗓  CALENDAR (10)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956816"/>
            <a:ext cx="334670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3"/>
                </a:solidFill>
              </a:rPr>
              <a:t>hour · dayofweek · day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2304288"/>
            <a:ext cx="334670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3"/>
                </a:solidFill>
              </a:rPr>
              <a:t>month · quarter · year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651760"/>
            <a:ext cx="334670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3"/>
                </a:solidFill>
              </a:rPr>
              <a:t>dayofyear · weekofyear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2999232"/>
            <a:ext cx="334670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3"/>
                </a:solidFill>
              </a:rPr>
              <a:t>is_weekend · is_holiday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43400" y="1572768"/>
            <a:ext cx="3566160" cy="2395728"/>
          </a:xfrm>
          <a:prstGeom prst="rect">
            <a:avLst/>
          </a:prstGeom>
          <a:solidFill>
            <a:srgbClr val="1E2947"/>
          </a:solidFill>
          <a:ln w="6350">
            <a:solidFill>
              <a:srgbClr val="2D3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53128" y="1664208"/>
            <a:ext cx="334670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EA5E9"/>
                </a:solidFill>
              </a:rPr>
              <a:t>🔄  CYCLICAL ENCODINGS (4)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53128" y="1956816"/>
            <a:ext cx="334670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3"/>
                </a:solidFill>
              </a:rPr>
              <a:t>sin/cos of hour (period 24)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53128" y="2304288"/>
            <a:ext cx="334670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3"/>
                </a:solidFill>
              </a:rPr>
              <a:t>sin/cos of month (period 12)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53128" y="2651760"/>
            <a:ext cx="334670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3"/>
                </a:solidFill>
              </a:rPr>
              <a:t>Makes hour 23 ↔ hour 0 adjacent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53128" y="2999232"/>
            <a:ext cx="334670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3"/>
                </a:solidFill>
              </a:rPr>
              <a:t>in ML feature space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38160" y="1572768"/>
            <a:ext cx="3566160" cy="2395728"/>
          </a:xfrm>
          <a:prstGeom prst="rect">
            <a:avLst/>
          </a:prstGeom>
          <a:solidFill>
            <a:srgbClr val="1E2947"/>
          </a:solidFill>
          <a:ln w="6350">
            <a:solidFill>
              <a:srgbClr val="2D3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47888" y="1664208"/>
            <a:ext cx="334670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2C55E"/>
                </a:solidFill>
              </a:rPr>
              <a:t>⏱  LAG &amp; ROLLING (4)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47888" y="1956816"/>
            <a:ext cx="334670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3"/>
                </a:solidFill>
              </a:rPr>
              <a:t>lag_24h — same hour yesterday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47888" y="2304288"/>
            <a:ext cx="334670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3"/>
                </a:solidFill>
              </a:rPr>
              <a:t>lag_168h — same hour last week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47888" y="2651760"/>
            <a:ext cx="334670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3"/>
                </a:solidFill>
              </a:rPr>
              <a:t>rolling_mean_7d (1h shift)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47888" y="2999232"/>
            <a:ext cx="334670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3"/>
                </a:solidFill>
              </a:rPr>
              <a:t>rolling_std_7d (1h shift)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4114800"/>
            <a:ext cx="11064240" cy="1627632"/>
          </a:xfrm>
          <a:prstGeom prst="rect">
            <a:avLst/>
          </a:prstGeom>
          <a:solidFill>
            <a:srgbClr val="141B35"/>
          </a:solidFill>
          <a:ln w="6350">
            <a:solidFill>
              <a:srgbClr val="2D3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8" y="4206240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6366F1"/>
                </a:solidFill>
              </a:rPr>
              <a:t>💡  DESIGN RATIONALE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4462272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Rolling features shifted 1h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" y="4700016"/>
            <a:ext cx="356616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3"/>
                </a:solidFill>
              </a:rPr>
              <a:t>Prevents leakage of current obs into its own rolling window — ensures unbiased training.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34255" y="4462272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Warm-up rows dropped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34255" y="4700016"/>
            <a:ext cx="356616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3"/>
                </a:solidFill>
              </a:rPr>
              <a:t>First 168 rows removed after lag/rolling → 145,224 final rows (1-week cost).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10144" y="4462272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lag_168h as naive baseline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10144" y="4700016"/>
            <a:ext cx="356616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3"/>
                </a:solidFill>
              </a:rPr>
              <a:t>Also used as the Naive Seasonal predictor — strong input to gradient boosting models.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20040"/>
            <a:ext cx="2926080" cy="256032"/>
          </a:xfrm>
          <a:prstGeom prst="rect">
            <a:avLst/>
          </a:prstGeom>
          <a:solidFill>
            <a:srgbClr val="141B35"/>
          </a:solidFill>
          <a:ln w="9525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47472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6366F1"/>
                </a:solidFill>
              </a:rPr>
              <a:t>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04672"/>
            <a:ext cx="1109167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Benchmark Results — Test Set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916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3"/>
                </a:solidFill>
              </a:rPr>
              <a:t>Held-out final 12 months (Aug 2017 – Aug 2018) · ranked by RMSE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72768"/>
            <a:ext cx="438912" cy="438912"/>
          </a:xfrm>
          <a:prstGeom prst="rect">
            <a:avLst/>
          </a:prstGeom>
          <a:solidFill>
            <a:srgbClr val="141B35"/>
          </a:solidFill>
          <a:ln w="5080">
            <a:solidFill>
              <a:srgbClr val="2D3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3504" y="1645920"/>
            <a:ext cx="3474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366F1"/>
                </a:solidFill>
              </a:rPr>
              <a:t>#</a:t>
            </a:r>
          </a:p>
        </p:txBody>
      </p:sp>
      <p:sp>
        <p:nvSpPr>
          <p:cNvPr id="9" name="Rectangle 8"/>
          <p:cNvSpPr/>
          <p:nvPr/>
        </p:nvSpPr>
        <p:spPr>
          <a:xfrm>
            <a:off x="1024128" y="1572768"/>
            <a:ext cx="3703320" cy="438912"/>
          </a:xfrm>
          <a:prstGeom prst="rect">
            <a:avLst/>
          </a:prstGeom>
          <a:solidFill>
            <a:srgbClr val="141B35"/>
          </a:solidFill>
          <a:ln w="5080">
            <a:solidFill>
              <a:srgbClr val="2D3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78992" y="1645920"/>
            <a:ext cx="3611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366F1"/>
                </a:solidFill>
              </a:rPr>
              <a:t>Model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800600" y="1572768"/>
            <a:ext cx="1938528" cy="438912"/>
          </a:xfrm>
          <a:prstGeom prst="rect">
            <a:avLst/>
          </a:prstGeom>
          <a:solidFill>
            <a:srgbClr val="141B35"/>
          </a:solidFill>
          <a:ln w="5080">
            <a:solidFill>
              <a:srgbClr val="2D3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55464" y="1645920"/>
            <a:ext cx="184708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366F1"/>
                </a:solidFill>
              </a:rPr>
              <a:t>MAE (MW)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12280" y="1572768"/>
            <a:ext cx="1938528" cy="438912"/>
          </a:xfrm>
          <a:prstGeom prst="rect">
            <a:avLst/>
          </a:prstGeom>
          <a:solidFill>
            <a:srgbClr val="141B35"/>
          </a:solidFill>
          <a:ln w="5080">
            <a:solidFill>
              <a:srgbClr val="2D3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67144" y="1645920"/>
            <a:ext cx="184708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366F1"/>
                </a:solidFill>
              </a:rPr>
              <a:t>RMSE (MW)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823960" y="1572768"/>
            <a:ext cx="1078992" cy="438912"/>
          </a:xfrm>
          <a:prstGeom prst="rect">
            <a:avLst/>
          </a:prstGeom>
          <a:solidFill>
            <a:srgbClr val="141B35"/>
          </a:solidFill>
          <a:ln w="5080">
            <a:solidFill>
              <a:srgbClr val="2D3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78824" y="1645920"/>
            <a:ext cx="9875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366F1"/>
                </a:solidFill>
              </a:rPr>
              <a:t>MAPE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966960" y="1572768"/>
            <a:ext cx="1920240" cy="438912"/>
          </a:xfrm>
          <a:prstGeom prst="rect">
            <a:avLst/>
          </a:prstGeom>
          <a:solidFill>
            <a:srgbClr val="141B35"/>
          </a:solidFill>
          <a:ln w="5080">
            <a:solidFill>
              <a:srgbClr val="2D3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21824" y="1645920"/>
            <a:ext cx="1828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366F1"/>
                </a:solidFill>
              </a:rPr>
              <a:t>vs Naive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2029968"/>
            <a:ext cx="438912" cy="438912"/>
          </a:xfrm>
          <a:prstGeom prst="rect">
            <a:avLst/>
          </a:prstGeom>
          <a:solidFill>
            <a:srgbClr val="16281C"/>
          </a:solidFill>
          <a:ln w="5080">
            <a:solidFill>
              <a:srgbClr val="2D3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03504" y="2103120"/>
            <a:ext cx="3474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🥇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24128" y="2029968"/>
            <a:ext cx="3703320" cy="438912"/>
          </a:xfrm>
          <a:prstGeom prst="rect">
            <a:avLst/>
          </a:prstGeom>
          <a:solidFill>
            <a:srgbClr val="16281C"/>
          </a:solidFill>
          <a:ln w="5080">
            <a:solidFill>
              <a:srgbClr val="2D3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78992" y="2103120"/>
            <a:ext cx="3611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LightGBM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800600" y="2029968"/>
            <a:ext cx="1938528" cy="438912"/>
          </a:xfrm>
          <a:prstGeom prst="rect">
            <a:avLst/>
          </a:prstGeom>
          <a:solidFill>
            <a:srgbClr val="16281C"/>
          </a:solidFill>
          <a:ln w="5080">
            <a:solidFill>
              <a:srgbClr val="2D3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855464" y="2103120"/>
            <a:ext cx="184708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1,907.5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812280" y="2029968"/>
            <a:ext cx="1938528" cy="438912"/>
          </a:xfrm>
          <a:prstGeom prst="rect">
            <a:avLst/>
          </a:prstGeom>
          <a:solidFill>
            <a:srgbClr val="16281C"/>
          </a:solidFill>
          <a:ln w="5080">
            <a:solidFill>
              <a:srgbClr val="2D3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67144" y="2103120"/>
            <a:ext cx="184708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2,561.6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823960" y="2029968"/>
            <a:ext cx="1078992" cy="438912"/>
          </a:xfrm>
          <a:prstGeom prst="rect">
            <a:avLst/>
          </a:prstGeom>
          <a:solidFill>
            <a:srgbClr val="16281C"/>
          </a:solidFill>
          <a:ln w="5080">
            <a:solidFill>
              <a:srgbClr val="2D3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878824" y="2103120"/>
            <a:ext cx="9875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5.98%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966960" y="2029968"/>
            <a:ext cx="1920240" cy="438912"/>
          </a:xfrm>
          <a:prstGeom prst="rect">
            <a:avLst/>
          </a:prstGeom>
          <a:solidFill>
            <a:srgbClr val="16281C"/>
          </a:solidFill>
          <a:ln w="5080">
            <a:solidFill>
              <a:srgbClr val="2D3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021824" y="2103120"/>
            <a:ext cx="1828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2C55E"/>
                </a:solidFill>
              </a:rPr>
              <a:t>▼ 47.2%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" y="2468880"/>
            <a:ext cx="438912" cy="438912"/>
          </a:xfrm>
          <a:prstGeom prst="rect">
            <a:avLst/>
          </a:prstGeom>
          <a:solidFill>
            <a:srgbClr val="16281C"/>
          </a:solidFill>
          <a:ln w="5080">
            <a:solidFill>
              <a:srgbClr val="2D3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03504" y="2542032"/>
            <a:ext cx="3474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🥈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024128" y="2468880"/>
            <a:ext cx="3703320" cy="438912"/>
          </a:xfrm>
          <a:prstGeom prst="rect">
            <a:avLst/>
          </a:prstGeom>
          <a:solidFill>
            <a:srgbClr val="16281C"/>
          </a:solidFill>
          <a:ln w="5080">
            <a:solidFill>
              <a:srgbClr val="2D3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78992" y="2542032"/>
            <a:ext cx="3611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XGBoost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800600" y="2468880"/>
            <a:ext cx="1938528" cy="438912"/>
          </a:xfrm>
          <a:prstGeom prst="rect">
            <a:avLst/>
          </a:prstGeom>
          <a:solidFill>
            <a:srgbClr val="16281C"/>
          </a:solidFill>
          <a:ln w="5080">
            <a:solidFill>
              <a:srgbClr val="2D3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855464" y="2542032"/>
            <a:ext cx="184708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1,913.7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812280" y="2468880"/>
            <a:ext cx="1938528" cy="438912"/>
          </a:xfrm>
          <a:prstGeom prst="rect">
            <a:avLst/>
          </a:prstGeom>
          <a:solidFill>
            <a:srgbClr val="16281C"/>
          </a:solidFill>
          <a:ln w="5080">
            <a:solidFill>
              <a:srgbClr val="2D3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867144" y="2542032"/>
            <a:ext cx="184708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2,565.9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823960" y="2468880"/>
            <a:ext cx="1078992" cy="438912"/>
          </a:xfrm>
          <a:prstGeom prst="rect">
            <a:avLst/>
          </a:prstGeom>
          <a:solidFill>
            <a:srgbClr val="16281C"/>
          </a:solidFill>
          <a:ln w="5080">
            <a:solidFill>
              <a:srgbClr val="2D3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878824" y="2542032"/>
            <a:ext cx="9875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6.02%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966960" y="2468880"/>
            <a:ext cx="1920240" cy="438912"/>
          </a:xfrm>
          <a:prstGeom prst="rect">
            <a:avLst/>
          </a:prstGeom>
          <a:solidFill>
            <a:srgbClr val="16281C"/>
          </a:solidFill>
          <a:ln w="5080">
            <a:solidFill>
              <a:srgbClr val="2D3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021824" y="2542032"/>
            <a:ext cx="1828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2C55E"/>
                </a:solidFill>
              </a:rPr>
              <a:t>▼ 47.1%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48640" y="2907792"/>
            <a:ext cx="438912" cy="438912"/>
          </a:xfrm>
          <a:prstGeom prst="rect">
            <a:avLst/>
          </a:prstGeom>
          <a:solidFill>
            <a:srgbClr val="1E2947"/>
          </a:solidFill>
          <a:ln w="5080">
            <a:solidFill>
              <a:srgbClr val="2D3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03504" y="2980944"/>
            <a:ext cx="3474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3"/>
                </a:solidFill>
              </a:rPr>
              <a:t>🥉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024128" y="2907792"/>
            <a:ext cx="3703320" cy="438912"/>
          </a:xfrm>
          <a:prstGeom prst="rect">
            <a:avLst/>
          </a:prstGeom>
          <a:solidFill>
            <a:srgbClr val="1E2947"/>
          </a:solidFill>
          <a:ln w="5080">
            <a:solidFill>
              <a:srgbClr val="2D3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78992" y="2980944"/>
            <a:ext cx="3611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Prophet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800600" y="2907792"/>
            <a:ext cx="1938528" cy="438912"/>
          </a:xfrm>
          <a:prstGeom prst="rect">
            <a:avLst/>
          </a:prstGeom>
          <a:solidFill>
            <a:srgbClr val="1E2947"/>
          </a:solidFill>
          <a:ln w="5080">
            <a:solidFill>
              <a:srgbClr val="2D3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855464" y="2980944"/>
            <a:ext cx="184708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3"/>
                </a:solidFill>
              </a:rPr>
              <a:t>3,231.8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812280" y="2907792"/>
            <a:ext cx="1938528" cy="438912"/>
          </a:xfrm>
          <a:prstGeom prst="rect">
            <a:avLst/>
          </a:prstGeom>
          <a:solidFill>
            <a:srgbClr val="1E2947"/>
          </a:solidFill>
          <a:ln w="5080">
            <a:solidFill>
              <a:srgbClr val="2D3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867144" y="2980944"/>
            <a:ext cx="184708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3"/>
                </a:solidFill>
              </a:rPr>
              <a:t>4,217.7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823960" y="2907792"/>
            <a:ext cx="1078992" cy="438912"/>
          </a:xfrm>
          <a:prstGeom prst="rect">
            <a:avLst/>
          </a:prstGeom>
          <a:solidFill>
            <a:srgbClr val="1E2947"/>
          </a:solidFill>
          <a:ln w="5080">
            <a:solidFill>
              <a:srgbClr val="2D3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878824" y="2980944"/>
            <a:ext cx="9875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3"/>
                </a:solidFill>
              </a:rPr>
              <a:t>10.20%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966960" y="2907792"/>
            <a:ext cx="1920240" cy="438912"/>
          </a:xfrm>
          <a:prstGeom prst="rect">
            <a:avLst/>
          </a:prstGeom>
          <a:solidFill>
            <a:srgbClr val="1E2947"/>
          </a:solidFill>
          <a:ln w="5080">
            <a:solidFill>
              <a:srgbClr val="2D3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0021824" y="2980944"/>
            <a:ext cx="1828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59E0B"/>
                </a:solidFill>
              </a:rPr>
              <a:t>▼ 13.1%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48640" y="3346704"/>
            <a:ext cx="438912" cy="438912"/>
          </a:xfrm>
          <a:prstGeom prst="rect">
            <a:avLst/>
          </a:prstGeom>
          <a:solidFill>
            <a:srgbClr val="1E2947"/>
          </a:solidFill>
          <a:ln w="5080">
            <a:solidFill>
              <a:srgbClr val="2D3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03504" y="3419856"/>
            <a:ext cx="3474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3"/>
                </a:solidFill>
              </a:rPr>
              <a:t>4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024128" y="3346704"/>
            <a:ext cx="3703320" cy="438912"/>
          </a:xfrm>
          <a:prstGeom prst="rect">
            <a:avLst/>
          </a:prstGeom>
          <a:solidFill>
            <a:srgbClr val="1E2947"/>
          </a:solidFill>
          <a:ln w="5080">
            <a:solidFill>
              <a:srgbClr val="2D3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078992" y="3419856"/>
            <a:ext cx="3611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3"/>
                </a:solidFill>
              </a:rPr>
              <a:t>Naive (168h)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800600" y="3346704"/>
            <a:ext cx="1938528" cy="438912"/>
          </a:xfrm>
          <a:prstGeom prst="rect">
            <a:avLst/>
          </a:prstGeom>
          <a:solidFill>
            <a:srgbClr val="1E2947"/>
          </a:solidFill>
          <a:ln w="5080">
            <a:solidFill>
              <a:srgbClr val="2D3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855464" y="3419856"/>
            <a:ext cx="184708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3"/>
                </a:solidFill>
              </a:rPr>
              <a:t>3,581.5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812280" y="3346704"/>
            <a:ext cx="1938528" cy="438912"/>
          </a:xfrm>
          <a:prstGeom prst="rect">
            <a:avLst/>
          </a:prstGeom>
          <a:solidFill>
            <a:srgbClr val="1E2947"/>
          </a:solidFill>
          <a:ln w="5080">
            <a:solidFill>
              <a:srgbClr val="2D3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867144" y="3419856"/>
            <a:ext cx="184708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3"/>
                </a:solidFill>
              </a:rPr>
              <a:t>4,852.0</a:t>
            </a:r>
          </a:p>
        </p:txBody>
      </p:sp>
      <p:sp>
        <p:nvSpPr>
          <p:cNvPr id="63" name="Rectangle 62"/>
          <p:cNvSpPr/>
          <p:nvPr/>
        </p:nvSpPr>
        <p:spPr>
          <a:xfrm>
            <a:off x="8823960" y="3346704"/>
            <a:ext cx="1078992" cy="438912"/>
          </a:xfrm>
          <a:prstGeom prst="rect">
            <a:avLst/>
          </a:prstGeom>
          <a:solidFill>
            <a:srgbClr val="1E2947"/>
          </a:solidFill>
          <a:ln w="5080">
            <a:solidFill>
              <a:srgbClr val="2D3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878824" y="3419856"/>
            <a:ext cx="9875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3"/>
                </a:solidFill>
              </a:rPr>
              <a:t>11.22%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966960" y="3346704"/>
            <a:ext cx="1920240" cy="438912"/>
          </a:xfrm>
          <a:prstGeom prst="rect">
            <a:avLst/>
          </a:prstGeom>
          <a:solidFill>
            <a:srgbClr val="1E2947"/>
          </a:solidFill>
          <a:ln w="5080">
            <a:solidFill>
              <a:srgbClr val="2D3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0021824" y="3419856"/>
            <a:ext cx="1828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3"/>
                </a:solidFill>
              </a:rPr>
              <a:t>— baseline</a:t>
            </a:r>
          </a:p>
        </p:txBody>
      </p:sp>
      <p:sp>
        <p:nvSpPr>
          <p:cNvPr id="67" name="Rectangle 66"/>
          <p:cNvSpPr/>
          <p:nvPr/>
        </p:nvSpPr>
        <p:spPr>
          <a:xfrm>
            <a:off x="548640" y="3785616"/>
            <a:ext cx="438912" cy="438912"/>
          </a:xfrm>
          <a:prstGeom prst="rect">
            <a:avLst/>
          </a:prstGeom>
          <a:solidFill>
            <a:srgbClr val="1E2947"/>
          </a:solidFill>
          <a:ln w="5080">
            <a:solidFill>
              <a:srgbClr val="2D3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03504" y="3858768"/>
            <a:ext cx="3474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3"/>
                </a:solidFill>
              </a:rPr>
              <a:t>5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024128" y="3785616"/>
            <a:ext cx="3703320" cy="438912"/>
          </a:xfrm>
          <a:prstGeom prst="rect">
            <a:avLst/>
          </a:prstGeom>
          <a:solidFill>
            <a:srgbClr val="1E2947"/>
          </a:solidFill>
          <a:ln w="5080">
            <a:solidFill>
              <a:srgbClr val="2D3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078992" y="3858768"/>
            <a:ext cx="3611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SARIMA (daily)</a:t>
            </a:r>
          </a:p>
        </p:txBody>
      </p:sp>
      <p:sp>
        <p:nvSpPr>
          <p:cNvPr id="71" name="Rectangle 70"/>
          <p:cNvSpPr/>
          <p:nvPr/>
        </p:nvSpPr>
        <p:spPr>
          <a:xfrm>
            <a:off x="4800600" y="3785616"/>
            <a:ext cx="1938528" cy="438912"/>
          </a:xfrm>
          <a:prstGeom prst="rect">
            <a:avLst/>
          </a:prstGeom>
          <a:solidFill>
            <a:srgbClr val="1E2947"/>
          </a:solidFill>
          <a:ln w="5080">
            <a:solidFill>
              <a:srgbClr val="2D3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4855464" y="3858768"/>
            <a:ext cx="184708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3"/>
                </a:solidFill>
              </a:rPr>
              <a:t>6,810.0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812280" y="3785616"/>
            <a:ext cx="1938528" cy="438912"/>
          </a:xfrm>
          <a:prstGeom prst="rect">
            <a:avLst/>
          </a:prstGeom>
          <a:solidFill>
            <a:srgbClr val="1E2947"/>
          </a:solidFill>
          <a:ln w="5080">
            <a:solidFill>
              <a:srgbClr val="2D3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867144" y="3858768"/>
            <a:ext cx="184708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3"/>
                </a:solidFill>
              </a:rPr>
              <a:t>7,619.6</a:t>
            </a:r>
          </a:p>
        </p:txBody>
      </p:sp>
      <p:sp>
        <p:nvSpPr>
          <p:cNvPr id="75" name="Rectangle 74"/>
          <p:cNvSpPr/>
          <p:nvPr/>
        </p:nvSpPr>
        <p:spPr>
          <a:xfrm>
            <a:off x="8823960" y="3785616"/>
            <a:ext cx="1078992" cy="438912"/>
          </a:xfrm>
          <a:prstGeom prst="rect">
            <a:avLst/>
          </a:prstGeom>
          <a:solidFill>
            <a:srgbClr val="1E2947"/>
          </a:solidFill>
          <a:ln w="5080">
            <a:solidFill>
              <a:srgbClr val="2D3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8878824" y="3858768"/>
            <a:ext cx="9875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3"/>
                </a:solidFill>
              </a:rPr>
              <a:t>23.55%</a:t>
            </a:r>
          </a:p>
        </p:txBody>
      </p:sp>
      <p:sp>
        <p:nvSpPr>
          <p:cNvPr id="77" name="Rectangle 76"/>
          <p:cNvSpPr/>
          <p:nvPr/>
        </p:nvSpPr>
        <p:spPr>
          <a:xfrm>
            <a:off x="9966960" y="3785616"/>
            <a:ext cx="1920240" cy="438912"/>
          </a:xfrm>
          <a:prstGeom prst="rect">
            <a:avLst/>
          </a:prstGeom>
          <a:solidFill>
            <a:srgbClr val="1E2947"/>
          </a:solidFill>
          <a:ln w="5080">
            <a:solidFill>
              <a:srgbClr val="2D3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0021824" y="3858768"/>
            <a:ext cx="1828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F4444"/>
                </a:solidFill>
              </a:rPr>
              <a:t>▲ 57.1%</a:t>
            </a:r>
          </a:p>
        </p:txBody>
      </p:sp>
      <p:sp>
        <p:nvSpPr>
          <p:cNvPr id="79" name="Rectangle 78"/>
          <p:cNvSpPr/>
          <p:nvPr/>
        </p:nvSpPr>
        <p:spPr>
          <a:xfrm>
            <a:off x="548640" y="4681728"/>
            <a:ext cx="5376672" cy="914400"/>
          </a:xfrm>
          <a:prstGeom prst="rect">
            <a:avLst/>
          </a:prstGeom>
          <a:solidFill>
            <a:srgbClr val="1E2947"/>
          </a:solidFill>
          <a:ln w="6350">
            <a:solidFill>
              <a:srgbClr val="2D3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658368" y="4773168"/>
            <a:ext cx="515721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2C55E"/>
                </a:solidFill>
              </a:rPr>
              <a:t>✅  KEY WIN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58368" y="4992624"/>
            <a:ext cx="515721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3"/>
                </a:solidFill>
              </a:rPr>
              <a:t>LightGBM &amp; XGBoost both cut RMSE by ~47% vs naive seasonal baseline — tabular feature engineering is very effective.</a:t>
            </a:r>
          </a:p>
        </p:txBody>
      </p:sp>
      <p:sp>
        <p:nvSpPr>
          <p:cNvPr id="82" name="Rectangle 81"/>
          <p:cNvSpPr/>
          <p:nvPr/>
        </p:nvSpPr>
        <p:spPr>
          <a:xfrm>
            <a:off x="6172200" y="4681728"/>
            <a:ext cx="5440680" cy="914400"/>
          </a:xfrm>
          <a:prstGeom prst="rect">
            <a:avLst/>
          </a:prstGeom>
          <a:solidFill>
            <a:srgbClr val="1E2947"/>
          </a:solidFill>
          <a:ln w="6350">
            <a:solidFill>
              <a:srgbClr val="2D3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6281928" y="4773168"/>
            <a:ext cx="5212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EF4444"/>
                </a:solidFill>
              </a:rPr>
              <a:t>⚠️  NOTABLE FINDING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6281928" y="4992624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3"/>
                </a:solidFill>
              </a:rPr>
              <a:t>Daily-resampled SARIMA performs worst — even behind the naive hourly baseline. Aggregating to daily granularity destroys critical hourly patterns.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20040"/>
            <a:ext cx="2926080" cy="256032"/>
          </a:xfrm>
          <a:prstGeom prst="rect">
            <a:avLst/>
          </a:prstGeom>
          <a:solidFill>
            <a:srgbClr val="141B35"/>
          </a:solidFill>
          <a:ln w="9525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47472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6366F1"/>
                </a:solidFill>
              </a:rPr>
              <a:t>MODEL 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04672"/>
            <a:ext cx="1109167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RMSE Improvement Over Naive Baseline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916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3"/>
                </a:solidFill>
              </a:rPr>
              <a:t>Naive seasonal (168h lag) = 4,852 MW reference  ·  lower RMSE = better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8288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</a:rPr>
              <a:t>LightGBM</a:t>
            </a:r>
          </a:p>
        </p:txBody>
      </p:sp>
      <p:sp>
        <p:nvSpPr>
          <p:cNvPr id="8" name="Rectangle 7"/>
          <p:cNvSpPr/>
          <p:nvPr/>
        </p:nvSpPr>
        <p:spPr>
          <a:xfrm>
            <a:off x="2907792" y="1737360"/>
            <a:ext cx="7571231" cy="502920"/>
          </a:xfrm>
          <a:prstGeom prst="rect">
            <a:avLst/>
          </a:prstGeom>
          <a:solidFill>
            <a:srgbClr val="1E2947"/>
          </a:solidFill>
          <a:ln w="5080">
            <a:solidFill>
              <a:srgbClr val="2D3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907792" y="1737360"/>
            <a:ext cx="3573621" cy="50292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62656" y="1783080"/>
            <a:ext cx="3482181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2,562 MW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7040" y="1828800"/>
            <a:ext cx="1051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2C55E"/>
                </a:solidFill>
              </a:rPr>
              <a:t>−47.2%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65176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</a:rPr>
              <a:t>XGBoost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07792" y="2560320"/>
            <a:ext cx="7571231" cy="502920"/>
          </a:xfrm>
          <a:prstGeom prst="rect">
            <a:avLst/>
          </a:prstGeom>
          <a:solidFill>
            <a:srgbClr val="1E2947"/>
          </a:solidFill>
          <a:ln w="5080">
            <a:solidFill>
              <a:srgbClr val="2D3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07792" y="2560320"/>
            <a:ext cx="3566049" cy="50292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62656" y="2606040"/>
            <a:ext cx="3474609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2,566 MW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7040" y="2651760"/>
            <a:ext cx="1051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2C55E"/>
                </a:solidFill>
              </a:rPr>
              <a:t>−47.1%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347472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</a:rPr>
              <a:t>Prophet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907792" y="3383280"/>
            <a:ext cx="7571231" cy="502920"/>
          </a:xfrm>
          <a:prstGeom prst="rect">
            <a:avLst/>
          </a:prstGeom>
          <a:solidFill>
            <a:srgbClr val="1E2947"/>
          </a:solidFill>
          <a:ln w="5080">
            <a:solidFill>
              <a:srgbClr val="2D3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907792" y="3383280"/>
            <a:ext cx="991831" cy="5029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962656" y="3429000"/>
            <a:ext cx="900391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4,218 MW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7040" y="3474720"/>
            <a:ext cx="1051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59E0B"/>
                </a:solidFill>
              </a:rPr>
              <a:t>−13.1%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429768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</a:rPr>
              <a:t>Naive (168h)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907792" y="4206240"/>
            <a:ext cx="7571231" cy="502920"/>
          </a:xfrm>
          <a:prstGeom prst="rect">
            <a:avLst/>
          </a:prstGeom>
          <a:solidFill>
            <a:srgbClr val="1E2947"/>
          </a:solidFill>
          <a:ln w="5080">
            <a:solidFill>
              <a:srgbClr val="2D3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907792" y="4206240"/>
            <a:ext cx="45720" cy="502920"/>
          </a:xfrm>
          <a:prstGeom prst="rect">
            <a:avLst/>
          </a:prstGeom>
          <a:solidFill>
            <a:srgbClr val="94A3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607040" y="4297680"/>
            <a:ext cx="1051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94A3B3"/>
                </a:solidFill>
              </a:rPr>
              <a:t>baseline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512064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</a:rPr>
              <a:t>SARIMA (daily)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907792" y="5029200"/>
            <a:ext cx="7571231" cy="502920"/>
          </a:xfrm>
          <a:prstGeom prst="rect">
            <a:avLst/>
          </a:prstGeom>
          <a:solidFill>
            <a:srgbClr val="1E2947"/>
          </a:solidFill>
          <a:ln w="5080">
            <a:solidFill>
              <a:srgbClr val="2D3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907792" y="5029200"/>
            <a:ext cx="7571231" cy="5029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962656" y="5074920"/>
            <a:ext cx="7479791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7,620 MW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07040" y="5120640"/>
            <a:ext cx="1051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F4444"/>
                </a:solidFill>
              </a:rPr>
              <a:t>+57.1%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" y="5852160"/>
            <a:ext cx="3566160" cy="685800"/>
          </a:xfrm>
          <a:prstGeom prst="rect">
            <a:avLst/>
          </a:prstGeom>
          <a:solidFill>
            <a:srgbClr val="1E2947"/>
          </a:solidFill>
          <a:ln w="6350">
            <a:solidFill>
              <a:srgbClr val="2D3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5943600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22C55E"/>
                </a:solidFill>
              </a:rPr>
              <a:t>2,561.6 MW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6272784"/>
            <a:ext cx="3566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94A3B3"/>
                </a:solidFill>
              </a:rPr>
              <a:t>Best RMSE (LightGBM)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343400" y="5852160"/>
            <a:ext cx="3566160" cy="685800"/>
          </a:xfrm>
          <a:prstGeom prst="rect">
            <a:avLst/>
          </a:prstGeom>
          <a:solidFill>
            <a:srgbClr val="1E2947"/>
          </a:solidFill>
          <a:ln w="6350">
            <a:solidFill>
              <a:srgbClr val="2D3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343400" y="5943600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6366F1"/>
                </a:solidFill>
              </a:rPr>
              <a:t>2,488.5 MW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343400" y="6272784"/>
            <a:ext cx="3566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94A3B3"/>
                </a:solidFill>
              </a:rPr>
              <a:t>XGB CV mean RMSE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138160" y="5852160"/>
            <a:ext cx="3566160" cy="685800"/>
          </a:xfrm>
          <a:prstGeom prst="rect">
            <a:avLst/>
          </a:prstGeom>
          <a:solidFill>
            <a:srgbClr val="1E2947"/>
          </a:solidFill>
          <a:ln w="6350">
            <a:solidFill>
              <a:srgbClr val="2D3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138160" y="5943600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</a:rPr>
              <a:t>5.98%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138160" y="6272784"/>
            <a:ext cx="3566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94A3B3"/>
                </a:solidFill>
              </a:rPr>
              <a:t>Best MAPE (LightGBM)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20040"/>
            <a:ext cx="2926080" cy="256032"/>
          </a:xfrm>
          <a:prstGeom prst="rect">
            <a:avLst/>
          </a:prstGeom>
          <a:solidFill>
            <a:srgbClr val="141B35"/>
          </a:solidFill>
          <a:ln w="9525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47472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6366F1"/>
                </a:solidFill>
              </a:rPr>
              <a:t>VALIDATION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04672"/>
            <a:ext cx="1109167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Walk-Forward Cross-Validation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916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3"/>
                </a:solidFill>
              </a:rPr>
              <a:t>XGBoost · 5-fold expanding window · confirms test result generalises across time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72768"/>
            <a:ext cx="4983480" cy="2999232"/>
          </a:xfrm>
          <a:prstGeom prst="rect">
            <a:avLst/>
          </a:prstGeom>
          <a:solidFill>
            <a:srgbClr val="1E2947"/>
          </a:solidFill>
          <a:ln w="6350">
            <a:solidFill>
              <a:srgbClr val="2D3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1664208"/>
            <a:ext cx="4754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6366F1"/>
                </a:solidFill>
              </a:rPr>
              <a:t>HOW IT WORKS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920240"/>
            <a:ext cx="47548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3"/>
                </a:solidFill>
              </a:rPr>
              <a:t>①  All data before test period → training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414016"/>
            <a:ext cx="47548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3"/>
                </a:solidFill>
              </a:rPr>
              <a:t>②  Evaluate on fold 1 of test set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2907792"/>
            <a:ext cx="47548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3"/>
                </a:solidFill>
              </a:rPr>
              <a:t>③  Expand training to include fold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3401568"/>
            <a:ext cx="47548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3"/>
                </a:solidFill>
              </a:rPr>
              <a:t>④  Evaluate fold 2 — repeat for 5 folds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3895344"/>
            <a:ext cx="47548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3"/>
                </a:solidFill>
              </a:rPr>
              <a:t>⑤  Report mean RMSE &amp; fold consistency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4700016"/>
            <a:ext cx="4983480" cy="1481328"/>
          </a:xfrm>
          <a:prstGeom prst="rect">
            <a:avLst/>
          </a:prstGeom>
          <a:solidFill>
            <a:srgbClr val="1E2947"/>
          </a:solidFill>
          <a:ln w="6350">
            <a:solidFill>
              <a:srgbClr val="2D3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4791456"/>
            <a:ext cx="4754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6366F1"/>
                </a:solidFill>
              </a:rPr>
              <a:t>FOLD RESULTS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5029200"/>
            <a:ext cx="4754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3"/>
                </a:solidFill>
              </a:rPr>
              <a:t>Fold 1   2,401 MW      1,780 MW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212080"/>
            <a:ext cx="4754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3"/>
                </a:solidFill>
              </a:rPr>
              <a:t>Fold 2   2,510 MW      1,860 MW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5394960"/>
            <a:ext cx="4754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3"/>
                </a:solidFill>
              </a:rPr>
              <a:t>Fold 3   2,490 MW      1,850 MW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5577840"/>
            <a:ext cx="4754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3"/>
                </a:solidFill>
              </a:rPr>
              <a:t>Fold 4   2,520 MW      1,880 MW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5760720"/>
            <a:ext cx="4754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3"/>
                </a:solidFill>
              </a:rPr>
              <a:t>Fold 5   2,522 MW      1,895 MW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5943600"/>
            <a:ext cx="4754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2C55E"/>
                </a:solidFill>
              </a:rPr>
              <a:t>Mean     2,488 MW      1,853 MW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760720" y="1572768"/>
            <a:ext cx="5852160" cy="4608576"/>
          </a:xfrm>
          <a:prstGeom prst="rect">
            <a:avLst/>
          </a:prstGeom>
          <a:solidFill>
            <a:srgbClr val="1E2947"/>
          </a:solidFill>
          <a:ln w="6350">
            <a:solidFill>
              <a:srgbClr val="2D3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870448" y="1664208"/>
            <a:ext cx="5669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6366F1"/>
                </a:solidFill>
              </a:rPr>
              <a:t>RMSE BY FOLD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016752" y="2434981"/>
            <a:ext cx="847344" cy="2813674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016752" y="5276088"/>
            <a:ext cx="84734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94A3B3"/>
                </a:solidFill>
              </a:rPr>
              <a:t>Fold 1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900672" y="2307247"/>
            <a:ext cx="847344" cy="2941408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00672" y="5276088"/>
            <a:ext cx="84734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94A3B3"/>
                </a:solidFill>
              </a:rPr>
              <a:t>Fold 2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784592" y="2330684"/>
            <a:ext cx="847344" cy="2917971"/>
          </a:xfrm>
          <a:prstGeom prst="rect">
            <a:avLst/>
          </a:prstGeom>
          <a:solidFill>
            <a:srgbClr val="A5B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84592" y="5276088"/>
            <a:ext cx="84734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94A3B3"/>
                </a:solidFill>
              </a:rPr>
              <a:t>Fold 3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668512" y="2295528"/>
            <a:ext cx="847344" cy="2953127"/>
          </a:xfrm>
          <a:prstGeom prst="rect">
            <a:avLst/>
          </a:prstGeom>
          <a:solidFill>
            <a:srgbClr val="C4B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668512" y="5276088"/>
            <a:ext cx="84734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94A3B3"/>
                </a:solidFill>
              </a:rPr>
              <a:t>Fold 4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552432" y="2293184"/>
            <a:ext cx="847344" cy="2955471"/>
          </a:xfrm>
          <a:prstGeom prst="rect">
            <a:avLst/>
          </a:prstGeom>
          <a:solidFill>
            <a:srgbClr val="DDD6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552432" y="5276088"/>
            <a:ext cx="84734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94A3B3"/>
                </a:solidFill>
              </a:rPr>
              <a:t>Fold 5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0436352" y="2333028"/>
            <a:ext cx="847344" cy="2915627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436352" y="5276088"/>
            <a:ext cx="84734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94A3B3"/>
                </a:solidFill>
              </a:rPr>
              <a:t>Mean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760720" y="6199632"/>
            <a:ext cx="5852160" cy="384048"/>
          </a:xfrm>
          <a:prstGeom prst="rect">
            <a:avLst/>
          </a:prstGeom>
          <a:solidFill>
            <a:srgbClr val="16281C"/>
          </a:solidFill>
          <a:ln w="6350">
            <a:solidFill>
              <a:srgbClr val="2D3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870448" y="6272784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2C55E"/>
                </a:solidFill>
              </a:rPr>
              <a:t>✅  CV mean RMSE 2,488 MW ≈ test RMSE 2,566 MW — result is robust across time.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20040"/>
            <a:ext cx="2926080" cy="256032"/>
          </a:xfrm>
          <a:prstGeom prst="rect">
            <a:avLst/>
          </a:prstGeom>
          <a:solidFill>
            <a:srgbClr val="141B35"/>
          </a:solidFill>
          <a:ln w="9525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47472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6366F1"/>
                </a:solidFill>
              </a:rPr>
              <a:t>EXPLAINABILITY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04672"/>
            <a:ext cx="1109167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SHAP — What Drives Predictions?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916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3"/>
                </a:solidFill>
              </a:rPr>
              <a:t>TreeExplainer on XGBoost · 3,000-sample test subset · mean |SHAP value| by feature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73352"/>
            <a:ext cx="1783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</a:rPr>
              <a:t>lag_24h</a:t>
            </a:r>
          </a:p>
        </p:txBody>
      </p:sp>
      <p:sp>
        <p:nvSpPr>
          <p:cNvPr id="8" name="Rectangle 7"/>
          <p:cNvSpPr/>
          <p:nvPr/>
        </p:nvSpPr>
        <p:spPr>
          <a:xfrm>
            <a:off x="2423160" y="1600200"/>
            <a:ext cx="5029200" cy="347472"/>
          </a:xfrm>
          <a:prstGeom prst="rect">
            <a:avLst/>
          </a:prstGeom>
          <a:solidFill>
            <a:srgbClr val="1E2947"/>
          </a:solidFill>
          <a:ln w="5080">
            <a:solidFill>
              <a:srgbClr val="2D3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423160" y="1600200"/>
            <a:ext cx="4777740" cy="34747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478024" y="1645920"/>
            <a:ext cx="46863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~1,250 MW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157984"/>
            <a:ext cx="1783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</a:rPr>
              <a:t>lag_168h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423160" y="2084832"/>
            <a:ext cx="5029200" cy="347472"/>
          </a:xfrm>
          <a:prstGeom prst="rect">
            <a:avLst/>
          </a:prstGeom>
          <a:solidFill>
            <a:srgbClr val="1E2947"/>
          </a:solidFill>
          <a:ln w="5080">
            <a:solidFill>
              <a:srgbClr val="2D3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423160" y="2084832"/>
            <a:ext cx="3118104" cy="34747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478024" y="2130552"/>
            <a:ext cx="302666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~815 MW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2642616"/>
            <a:ext cx="1783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</a:rPr>
              <a:t>rolling_mean_7d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423160" y="2569464"/>
            <a:ext cx="5029200" cy="347472"/>
          </a:xfrm>
          <a:prstGeom prst="rect">
            <a:avLst/>
          </a:prstGeom>
          <a:solidFill>
            <a:srgbClr val="1E2947"/>
          </a:solidFill>
          <a:ln w="5080">
            <a:solidFill>
              <a:srgbClr val="2D3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423160" y="2569464"/>
            <a:ext cx="2766060" cy="34747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478024" y="2615184"/>
            <a:ext cx="26746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~720 MW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3127248"/>
            <a:ext cx="1783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</a:rPr>
              <a:t>hour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423160" y="3054096"/>
            <a:ext cx="5029200" cy="347472"/>
          </a:xfrm>
          <a:prstGeom prst="rect">
            <a:avLst/>
          </a:prstGeom>
          <a:solidFill>
            <a:srgbClr val="1E2947"/>
          </a:solidFill>
          <a:ln w="5080">
            <a:solidFill>
              <a:srgbClr val="2D3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423160" y="3054096"/>
            <a:ext cx="2414016" cy="34747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478024" y="3099816"/>
            <a:ext cx="23225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~630 MW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3611880"/>
            <a:ext cx="1783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</a:rPr>
              <a:t>hour_sin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423160" y="3538728"/>
            <a:ext cx="5029200" cy="347472"/>
          </a:xfrm>
          <a:prstGeom prst="rect">
            <a:avLst/>
          </a:prstGeom>
          <a:solidFill>
            <a:srgbClr val="1E2947"/>
          </a:solidFill>
          <a:ln w="5080">
            <a:solidFill>
              <a:srgbClr val="2D3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423160" y="3538728"/>
            <a:ext cx="1911096" cy="34747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478024" y="3584448"/>
            <a:ext cx="181965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~500 MW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4096512"/>
            <a:ext cx="1783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</a:rPr>
              <a:t>dayofweek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423160" y="4023360"/>
            <a:ext cx="5029200" cy="347472"/>
          </a:xfrm>
          <a:prstGeom prst="rect">
            <a:avLst/>
          </a:prstGeom>
          <a:solidFill>
            <a:srgbClr val="1E2947"/>
          </a:solidFill>
          <a:ln w="5080">
            <a:solidFill>
              <a:srgbClr val="2D3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423160" y="4023360"/>
            <a:ext cx="1508760" cy="34747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478024" y="4069080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~395 MW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4581144"/>
            <a:ext cx="1783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</a:rPr>
              <a:t>month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423160" y="4507992"/>
            <a:ext cx="5029200" cy="347472"/>
          </a:xfrm>
          <a:prstGeom prst="rect">
            <a:avLst/>
          </a:prstGeom>
          <a:solidFill>
            <a:srgbClr val="1E2947"/>
          </a:solidFill>
          <a:ln w="5080">
            <a:solidFill>
              <a:srgbClr val="2D3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423160" y="4507992"/>
            <a:ext cx="1106424" cy="34747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478024" y="4553712"/>
            <a:ext cx="101498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~290 MW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5065776"/>
            <a:ext cx="1783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</a:rPr>
              <a:t>rolling_std_7d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423160" y="4992624"/>
            <a:ext cx="5029200" cy="347472"/>
          </a:xfrm>
          <a:prstGeom prst="rect">
            <a:avLst/>
          </a:prstGeom>
          <a:solidFill>
            <a:srgbClr val="1E2947"/>
          </a:solidFill>
          <a:ln w="5080">
            <a:solidFill>
              <a:srgbClr val="2D3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423160" y="4992624"/>
            <a:ext cx="804672" cy="34747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478024" y="5038344"/>
            <a:ext cx="7132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~210 MW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5550408"/>
            <a:ext cx="1783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</a:rPr>
              <a:t>year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423160" y="5477256"/>
            <a:ext cx="5029200" cy="347472"/>
          </a:xfrm>
          <a:prstGeom prst="rect">
            <a:avLst/>
          </a:prstGeom>
          <a:solidFill>
            <a:srgbClr val="1E2947"/>
          </a:solidFill>
          <a:ln w="5080">
            <a:solidFill>
              <a:srgbClr val="2D3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2423160" y="5477256"/>
            <a:ext cx="502920" cy="34747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818120" y="1600200"/>
            <a:ext cx="4206240" cy="1389888"/>
          </a:xfrm>
          <a:prstGeom prst="rect">
            <a:avLst/>
          </a:prstGeom>
          <a:solidFill>
            <a:srgbClr val="1E2947"/>
          </a:solidFill>
          <a:ln w="6350">
            <a:solidFill>
              <a:srgbClr val="2D3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927848" y="1691640"/>
            <a:ext cx="398678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6366F1"/>
                </a:solidFill>
              </a:rPr>
              <a:t>lag_24h — DOMINANT DRIVER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927848" y="1947672"/>
            <a:ext cx="3986784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3"/>
                </a:solidFill>
              </a:rPr>
              <a:t>Yesterday's same-hour load accounts for ~40% of SHAP importance. Demand is highly habit-driven — daily routines repeat reliably.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818120" y="3108960"/>
            <a:ext cx="4206240" cy="1389888"/>
          </a:xfrm>
          <a:prstGeom prst="rect">
            <a:avLst/>
          </a:prstGeom>
          <a:solidFill>
            <a:srgbClr val="1E2947"/>
          </a:solidFill>
          <a:ln w="6350">
            <a:solidFill>
              <a:srgbClr val="2D3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927848" y="3200400"/>
            <a:ext cx="398678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EA5E9"/>
                </a:solidFill>
              </a:rPr>
              <a:t>TEMPORAL FEATURES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927848" y="3456432"/>
            <a:ext cx="3986784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3"/>
                </a:solidFill>
              </a:rPr>
              <a:t>hour, dayofweek, month jointly capture the daily cycle, weekday vs weekend effect, and seasonal temperature-driven demand patterns.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818120" y="4617720"/>
            <a:ext cx="4206240" cy="1389888"/>
          </a:xfrm>
          <a:prstGeom prst="rect">
            <a:avLst/>
          </a:prstGeom>
          <a:solidFill>
            <a:srgbClr val="1E2947"/>
          </a:solidFill>
          <a:ln w="6350">
            <a:solidFill>
              <a:srgbClr val="2D3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927848" y="4709160"/>
            <a:ext cx="398678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2C55E"/>
                </a:solidFill>
              </a:rPr>
              <a:t>rolling_mean_7d — LOCAL TREND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927848" y="4965192"/>
            <a:ext cx="3986784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3"/>
                </a:solidFill>
              </a:rPr>
              <a:t>Captures recent demand level — extremely useful during heatwaves or cold snaps where the 168h lag may not reflect current conditions.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20040"/>
            <a:ext cx="2926080" cy="256032"/>
          </a:xfrm>
          <a:prstGeom prst="rect">
            <a:avLst/>
          </a:prstGeom>
          <a:solidFill>
            <a:srgbClr val="141B35"/>
          </a:solidFill>
          <a:ln w="9525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47472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6366F1"/>
                </a:solidFill>
              </a:rPr>
              <a:t>DELIVERABLE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04672"/>
            <a:ext cx="1109167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Interactive Streamlit Dashboard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916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3"/>
                </a:solidFill>
              </a:rPr>
              <a:t>Deployed on Streamlit Community Cloud · dashboard-da.streamlit.app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72768"/>
            <a:ext cx="5349240" cy="2907792"/>
          </a:xfrm>
          <a:prstGeom prst="rect">
            <a:avLst/>
          </a:prstGeom>
          <a:solidFill>
            <a:srgbClr val="1E2947"/>
          </a:solidFill>
          <a:ln w="6350">
            <a:solidFill>
              <a:srgbClr val="2D3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1664208"/>
            <a:ext cx="5120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6366F1"/>
                </a:solidFill>
              </a:rPr>
              <a:t>FEATURES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92024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3"/>
                </a:solidFill>
              </a:rPr>
              <a:t>📅  Date range selector (full 2002–2018 dataset)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267712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3"/>
                </a:solidFill>
              </a:rPr>
              <a:t>📊  KPIs: avg, peak, min load &amp; record count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2615184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3"/>
                </a:solidFill>
              </a:rPr>
              <a:t>📈  Actual + predicted overlay with MAE/RMSE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2962656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3"/>
                </a:solidFill>
              </a:rPr>
              <a:t>🔴  Anomaly highlighting (|rolling z| &gt; 4)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3310128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3"/>
                </a:solidFill>
              </a:rPr>
              <a:t>🌡️  Seasonality: by hour · day-of-week · month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365760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3"/>
                </a:solidFill>
              </a:rPr>
              <a:t>🌲  XGBoost gain-based feature importance chart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4005072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3"/>
                </a:solidFill>
              </a:rPr>
              <a:t>📋  Raw data table for any selected date range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4626864"/>
            <a:ext cx="5349240" cy="777240"/>
          </a:xfrm>
          <a:prstGeom prst="rect">
            <a:avLst/>
          </a:prstGeom>
          <a:solidFill>
            <a:srgbClr val="1E2947"/>
          </a:solidFill>
          <a:ln w="6350">
            <a:solidFill>
              <a:srgbClr val="2D3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4718304"/>
            <a:ext cx="5120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6366F1"/>
                </a:solidFill>
              </a:rPr>
              <a:t>TECH STACK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4937760"/>
            <a:ext cx="5120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Streamlit  ·  Plotly  ·  Pandas  ·  XGBoost  ·  Joblib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5541264"/>
            <a:ext cx="5349240" cy="402336"/>
          </a:xfrm>
          <a:prstGeom prst="rect">
            <a:avLst/>
          </a:prstGeom>
          <a:solidFill>
            <a:srgbClr val="1E2947"/>
          </a:solidFill>
          <a:ln w="6350">
            <a:solidFill>
              <a:srgbClr val="2D3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" y="5614416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2C55E"/>
                </a:solidFill>
              </a:rPr>
              <a:t>📁  github.com/siddhantm29-netizen/41724324_DA120A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6016752"/>
            <a:ext cx="5349240" cy="402336"/>
          </a:xfrm>
          <a:prstGeom prst="rect">
            <a:avLst/>
          </a:prstGeom>
          <a:solidFill>
            <a:srgbClr val="1E2947"/>
          </a:solidFill>
          <a:ln w="6350">
            <a:solidFill>
              <a:srgbClr val="2D3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" y="6089904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59E0B"/>
                </a:solidFill>
              </a:rPr>
              <a:t>🌐  dashboard-da.streamlit.app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72200" y="1572768"/>
            <a:ext cx="5486400" cy="5138928"/>
          </a:xfrm>
          <a:prstGeom prst="rect">
            <a:avLst/>
          </a:prstGeom>
          <a:solidFill>
            <a:srgbClr val="1E2947"/>
          </a:solidFill>
          <a:ln w="6350">
            <a:solidFill>
              <a:srgbClr val="2D3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81928" y="1664208"/>
            <a:ext cx="526694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6366F1"/>
                </a:solidFill>
              </a:rPr>
              <a:t>DASHBOARD HIGHLIGHTS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81928" y="2011680"/>
            <a:ext cx="54864" cy="34747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19088" y="2011680"/>
            <a:ext cx="50292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3"/>
                </a:solidFill>
              </a:rPr>
              <a:t>Real-time date filtering via sidebar date picker widget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81928" y="2633472"/>
            <a:ext cx="54864" cy="34747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19088" y="2633472"/>
            <a:ext cx="50292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3"/>
                </a:solidFill>
              </a:rPr>
              <a:t>Plotly chart with zoom, pan, and hover value tooltips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81928" y="3255264"/>
            <a:ext cx="54864" cy="34747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19088" y="3255264"/>
            <a:ext cx="50292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3"/>
                </a:solidFill>
              </a:rPr>
              <a:t>Actual vs predicted overlay — MAE &amp; RMSE shown inline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81928" y="3877056"/>
            <a:ext cx="54864" cy="34747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19088" y="3877056"/>
            <a:ext cx="50292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3"/>
                </a:solidFill>
              </a:rPr>
              <a:t>Seasonality tabs rendered with Plotly line/bar charts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81928" y="4498848"/>
            <a:ext cx="54864" cy="34747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19088" y="4498848"/>
            <a:ext cx="50292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3"/>
                </a:solidFill>
              </a:rPr>
              <a:t>Feature importance from live XGBoost pickle inference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81928" y="5120640"/>
            <a:ext cx="54864" cy="34747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19088" y="5120640"/>
            <a:ext cx="50292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3"/>
                </a:solidFill>
              </a:rPr>
              <a:t>Anomaly markers for |rolling z-score| &gt; 4 threshold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20040"/>
            <a:ext cx="2926080" cy="256032"/>
          </a:xfrm>
          <a:prstGeom prst="rect">
            <a:avLst/>
          </a:prstGeom>
          <a:solidFill>
            <a:srgbClr val="141B35"/>
          </a:solidFill>
          <a:ln w="9525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47472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6366F1"/>
                </a:solidFill>
              </a:rPr>
              <a:t>CONCLUSIONS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04672"/>
            <a:ext cx="1109167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Key Findings &amp; Takeaways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508760"/>
            <a:ext cx="64008" cy="1481328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508760"/>
            <a:ext cx="5440680" cy="1481328"/>
          </a:xfrm>
          <a:prstGeom prst="rect">
            <a:avLst/>
          </a:prstGeom>
          <a:solidFill>
            <a:srgbClr val="1E2947"/>
          </a:solidFill>
          <a:ln w="6350">
            <a:solidFill>
              <a:srgbClr val="2D3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618488"/>
            <a:ext cx="519379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2C55E"/>
                </a:solidFill>
              </a:rPr>
              <a:t>✅  ML WINS DECISIVELY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892808"/>
            <a:ext cx="519379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3"/>
                </a:solidFill>
              </a:rPr>
              <a:t>LightGBM and XGBoost both achieve ~47% RMSE reduction over the naive seasonal baseline — ML clearly outperforms classical approaches for hourly load forecasting.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5079" y="1508760"/>
            <a:ext cx="64008" cy="148132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46519" y="1508760"/>
            <a:ext cx="5440680" cy="1481328"/>
          </a:xfrm>
          <a:prstGeom prst="rect">
            <a:avLst/>
          </a:prstGeom>
          <a:solidFill>
            <a:srgbClr val="1E2947"/>
          </a:solidFill>
          <a:ln w="6350">
            <a:solidFill>
              <a:srgbClr val="2D3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79" y="1618488"/>
            <a:ext cx="519379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EF4444"/>
                </a:solidFill>
              </a:rPr>
              <a:t>⚠️  SARIMA FAILS AT HOURLY SCALE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79" y="1892808"/>
            <a:ext cx="519379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3"/>
                </a:solidFill>
              </a:rPr>
              <a:t>Daily aggregation destroys critical hourly patterns. SARIMA performs 57% worse than the naive baseline — the wrong granularity breaks the model completely.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154680"/>
            <a:ext cx="64008" cy="1481328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3154680"/>
            <a:ext cx="5440680" cy="1481328"/>
          </a:xfrm>
          <a:prstGeom prst="rect">
            <a:avLst/>
          </a:prstGeom>
          <a:solidFill>
            <a:srgbClr val="1E2947"/>
          </a:solidFill>
          <a:ln w="6350">
            <a:solidFill>
              <a:srgbClr val="2D3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3264408"/>
            <a:ext cx="519379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6366F1"/>
                </a:solidFill>
              </a:rPr>
              <a:t>🔮  LAG_24H IS THE DOMINANT DRIVER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3538728"/>
            <a:ext cx="519379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3"/>
                </a:solidFill>
              </a:rPr>
              <a:t>SHAP confirms lag_24h accounts for ~40% of total importance. Electricity demand is highly auto-correlated — yesterday's same-hour load is the strongest single predictor.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55079" y="3154680"/>
            <a:ext cx="64008" cy="148132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46519" y="3154680"/>
            <a:ext cx="5440680" cy="1481328"/>
          </a:xfrm>
          <a:prstGeom prst="rect">
            <a:avLst/>
          </a:prstGeom>
          <a:solidFill>
            <a:srgbClr val="1E2947"/>
          </a:solidFill>
          <a:ln w="6350">
            <a:solidFill>
              <a:srgbClr val="2D3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79" y="3264408"/>
            <a:ext cx="519379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59E0B"/>
                </a:solidFill>
              </a:rPr>
              <a:t>📊  RESULT IS ROBUST ACROSS TIME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79" y="3538728"/>
            <a:ext cx="519379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3"/>
                </a:solidFill>
              </a:rPr>
              <a:t>5-fold walk-forward CV mean RMSE 2,488 MW closely matches test RMSE 2,566 MW — the model generalises reliably across different seasons and time windows.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4828032"/>
            <a:ext cx="11064240" cy="960120"/>
          </a:xfrm>
          <a:prstGeom prst="rect">
            <a:avLst/>
          </a:prstGeom>
          <a:solidFill>
            <a:srgbClr val="141B35"/>
          </a:solidFill>
          <a:ln w="6350">
            <a:solidFill>
              <a:srgbClr val="2D3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" y="4919472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6366F1"/>
                </a:solidFill>
              </a:rPr>
              <a:t>🚀  FUTURE WORK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5157216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Weather data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539496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3"/>
                </a:solidFill>
              </a:rPr>
              <a:t>Add temperature &amp; humidity as external regressors — strongest missing signal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34255" y="5157216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Temporal Fusion Transformer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34255" y="539496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3"/>
                </a:solidFill>
              </a:rPr>
              <a:t>Train TFT for native sequence modelling at hourly granularity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10144" y="5157216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Real-time pipeline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10144" y="539496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3"/>
                </a:solidFill>
              </a:rPr>
              <a:t>Streaming PJM API data with automated model retraining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6455664"/>
            <a:ext cx="11064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94A3B3"/>
                </a:solidFill>
              </a:rPr>
              <a:t>📁  github.com/siddhantm29-netizen/41724324_DA120A    ·    🌐  dashboard-da.streamlit.app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